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rcRect l="24085" r="24085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554480" cy="914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BAHAN AJAR  •  PERTEMUAN INTI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Seminar Proposal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Penelitian (Tesis)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7EFF7"/>
                </a:solidFill>
                <a:latin typeface="Calibri"/>
              </a:rPr>
              <a:t>Merancang Proposal Tesis yang Logis, Sistematis, dan Layak Diteliti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9A23B"/>
                </a:solidFill>
                <a:latin typeface="Calibri"/>
              </a:rPr>
              <a:t>Program Studi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Magister Manajemen Pendidikan (S2)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7EFF7"/>
                </a:solidFill>
                <a:latin typeface="Calibri"/>
              </a:rPr>
              <a:t>Jenjang Pascasarjana  |  18 Slide Materi + Referensi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9FB4CB"/>
                </a:solidFill>
                <a:latin typeface="Calibri"/>
              </a:rPr>
              <a:t>Disusun untuk pembelajaran mahasiswa pascasarjana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PENGANTAR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Tujuan Pembelajaran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Calibri"/>
              </a:rPr>
              <a:t>Setelah mengikuti sesi ini, mahasiswa diharapkan mampu memahami hakikat seminar proposal dan menyusun proposal tesis yang berkualitas pada bidang manajemen pendidikan.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914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478024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86584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Menjelaskan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hakikat, tujuan, dan kedudukan seminar proposal dalam penelitian tesis.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72968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172968"/>
            <a:ext cx="914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319272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1927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27832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Mengidentifikasi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komponen utama proposal: pendahuluan, kajian pustaka, dan metodologi.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14216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014216"/>
            <a:ext cx="914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16052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6052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69080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Merumuskan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masalah penelitian yang tajam berbasis kesenjangan (research gap).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55464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855464"/>
            <a:ext cx="914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5001768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017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10328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Menyusun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kerangka berpikir dan memilih metode penelitian yang tepat.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96712"/>
            <a:ext cx="6492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696712"/>
            <a:ext cx="914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5843016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84301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751576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Mempresentasikan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proposal secara meyakinkan dan menjunjung etika akademik.</a:t>
            </a:r>
          </a:p>
        </p:txBody>
      </p:sp>
      <p:pic>
        <p:nvPicPr>
          <p:cNvPr id="34" name="Picture 33" descr="students.jpg"/>
          <p:cNvPicPr>
            <a:picLocks noChangeAspect="1"/>
          </p:cNvPicPr>
          <p:nvPr/>
        </p:nvPicPr>
        <p:blipFill>
          <a:blip r:embed="rId2"/>
          <a:srcRect l="17823" r="17823"/>
          <a:stretch>
            <a:fillRect/>
          </a:stretch>
        </p:blipFill>
        <p:spPr>
          <a:xfrm>
            <a:off x="7315200" y="1554480"/>
            <a:ext cx="4325112" cy="448056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315200" y="1554480"/>
            <a:ext cx="4325112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KONSEP 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Apa Itu Seminar Proposal?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766560" cy="150876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6217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“Forum akademik untuk menguji kelayakan rencana penelitian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sebelum penelitian tesis dilaksanakan.”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7EFF7"/>
                </a:solidFill>
                <a:latin typeface="Calibri"/>
              </a:rPr>
              <a:t>Mahasiswa mempertanggungjawabkan ide, fokus masalah, dan metode di hadapan dosen penguji.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91440" cy="14173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429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Menguji Kelayakan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9624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Memastikan topik penting, fokus, dan dapat diteliti.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2461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60" y="3246120"/>
            <a:ext cx="91440" cy="141732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429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Memberi Masukan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849624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Penguji menajamkan masalah, teori, dan metode.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91440" cy="141732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029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Melatih Argumentasi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49824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Mahasiswa berlatih mempertahankan gagasan ilmiah.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8463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23360" y="4846320"/>
            <a:ext cx="91440" cy="14173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5029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Pintu Gerbang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5449824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B3A"/>
                </a:solidFill>
                <a:latin typeface="Calibri"/>
              </a:rPr>
              <a:t>Syarat sebelum melanjutkan ke penelitian penuh.</a:t>
            </a:r>
          </a:p>
        </p:txBody>
      </p:sp>
      <p:pic>
        <p:nvPicPr>
          <p:cNvPr id="26" name="Picture 25" descr="presentation.jpg"/>
          <p:cNvPicPr>
            <a:picLocks noChangeAspect="1"/>
          </p:cNvPicPr>
          <p:nvPr/>
        </p:nvPicPr>
        <p:blipFill>
          <a:blip r:embed="rId2"/>
          <a:srcRect l="24800" r="24800"/>
          <a:stretch>
            <a:fillRect/>
          </a:stretch>
        </p:blipFill>
        <p:spPr>
          <a:xfrm>
            <a:off x="7543800" y="1463040"/>
            <a:ext cx="4096512" cy="4572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543800" y="1463040"/>
            <a:ext cx="4096512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Creswell &amp; Creswell (2018); Sugiyono (2019).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PETA JALAN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Kedudukan Proposal dalam Penelitian 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Proposal adalah </a:t>
            </a:r>
            <a:r>
              <a:rPr sz="1400" b="1" i="0">
                <a:solidFill>
                  <a:srgbClr val="2A9D8F"/>
                </a:solidFill>
                <a:latin typeface="Calibri"/>
              </a:rPr>
              <a:t>fondasi</a:t>
            </a:r>
            <a:r>
              <a:rPr sz="1400" b="0" i="0">
                <a:solidFill>
                  <a:srgbClr val="5B6B7B"/>
                </a:solidFill>
                <a:latin typeface="Calibri"/>
              </a:rPr>
              <a:t> dari keseluruhan perjalanan tesis. Kualitas proposal menentukan kelancaran tahap berikutnya.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993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91440" cy="22860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1288" y="2587752"/>
            <a:ext cx="768096" cy="7680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58775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747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Ide &amp; Topik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90448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C2B3A"/>
                </a:solidFill>
                <a:latin typeface="Calibri"/>
              </a:rPr>
              <a:t>Menemukan isu manajemen pendidikan yang penting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2523744" y="3246120"/>
            <a:ext cx="310896" cy="457200"/>
          </a:xfrm>
          <a:prstGeom prst="chevron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2331720"/>
            <a:ext cx="1993392" cy="2286000"/>
          </a:xfrm>
          <a:prstGeom prst="roundRect">
            <a:avLst>
              <a:gd name="adj" fmla="val 6000"/>
            </a:avLst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8064" y="2331720"/>
            <a:ext cx="91440" cy="228600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712" y="2587752"/>
            <a:ext cx="768096" cy="768096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258775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34747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Proposal &amp; Seminar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90448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C2B3A"/>
                </a:solidFill>
                <a:latin typeface="Calibri"/>
              </a:rPr>
              <a:t>Bab I–III diuji kelayakannya (FOKUS SESI INI)</a:t>
            </a:r>
          </a:p>
        </p:txBody>
      </p:sp>
      <p:sp>
        <p:nvSpPr>
          <p:cNvPr id="22" name="Chevron 21"/>
          <p:cNvSpPr/>
          <p:nvPr/>
        </p:nvSpPr>
        <p:spPr>
          <a:xfrm>
            <a:off x="4773168" y="3246120"/>
            <a:ext cx="310896" cy="457200"/>
          </a:xfrm>
          <a:prstGeom prst="chevron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47488" y="2331720"/>
            <a:ext cx="1993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2331720"/>
            <a:ext cx="91440" cy="228600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0136" y="2587752"/>
            <a:ext cx="768096" cy="768096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0136" y="258775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4747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Penelitian Lapangan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90448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C2B3A"/>
                </a:solidFill>
                <a:latin typeface="Calibri"/>
              </a:rPr>
              <a:t>Pengumpulan &amp; analisis data</a:t>
            </a:r>
          </a:p>
        </p:txBody>
      </p:sp>
      <p:sp>
        <p:nvSpPr>
          <p:cNvPr id="29" name="Chevron 28"/>
          <p:cNvSpPr/>
          <p:nvPr/>
        </p:nvSpPr>
        <p:spPr>
          <a:xfrm>
            <a:off x="7022592" y="3246120"/>
            <a:ext cx="310896" cy="457200"/>
          </a:xfrm>
          <a:prstGeom prst="chevron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96912" y="2331720"/>
            <a:ext cx="1993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96912" y="2331720"/>
            <a:ext cx="91440" cy="228600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60" y="2587752"/>
            <a:ext cx="768096" cy="76809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58775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4747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Penulisan Tesis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90448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C2B3A"/>
                </a:solidFill>
                <a:latin typeface="Calibri"/>
              </a:rPr>
              <a:t>Hasil, pembahasan, simpulan</a:t>
            </a:r>
          </a:p>
        </p:txBody>
      </p:sp>
      <p:sp>
        <p:nvSpPr>
          <p:cNvPr id="36" name="Chevron 35"/>
          <p:cNvSpPr/>
          <p:nvPr/>
        </p:nvSpPr>
        <p:spPr>
          <a:xfrm>
            <a:off x="9272016" y="3246120"/>
            <a:ext cx="310896" cy="457200"/>
          </a:xfrm>
          <a:prstGeom prst="chevron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46336" y="2331720"/>
            <a:ext cx="1993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46336" y="2331720"/>
            <a:ext cx="91440" cy="228600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58984" y="2587752"/>
            <a:ext cx="768096" cy="7680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58984" y="258775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34747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Sidang/Ujian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904488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C2B3A"/>
                </a:solidFill>
                <a:latin typeface="Calibri"/>
              </a:rPr>
              <a:t>Pertahankan tesis &amp; publikasi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Pesan Kunci: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Proposal yang matang menghemat waktu, mengurangi revisi besar, dan memperbesar peluang tesis selesai tepat waktu.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Gall, Gall, &amp; Borg (2007); Emzir (2015).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KERANGKA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Anatomi Proposal Tesis: Tiga Bab Utama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6118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BAB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30632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Latar belakang masalah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Identifikasi &amp; batasan masalah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Rumusan masalah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Tujuan penelitian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Manfaat penelitian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55448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011680"/>
            <a:ext cx="361188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66420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BAB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2996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KAJIAN PUSTAKA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51760"/>
            <a:ext cx="30632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B5E8C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Kajian teori &amp; konsep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B5E8C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Penelitian relevan terdahulu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B5E8C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Kerangka berpikir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B5E8C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Hipotesis (bila kuantitatif)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55448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4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2011680"/>
            <a:ext cx="3611880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166420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BAB 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029968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METODE PENELITIAN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651760"/>
            <a:ext cx="30632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Pendekatan &amp; jenis penelitian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Populasi, sampel/subjek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Teknik pengumpulan data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Instrumen &amp; keabsahan data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▸  </a:t>
            </a:r>
            <a:r>
              <a:rPr sz="1300">
                <a:solidFill>
                  <a:srgbClr val="1C2B3A"/>
                </a:solidFill>
                <a:latin typeface="Calibri"/>
              </a:rPr>
              <a:t>Teknik analisis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0F2A4A"/>
                </a:solidFill>
                <a:latin typeface="Calibri"/>
              </a:rPr>
              <a:t>Catatan: </a:t>
            </a:r>
            <a:r>
              <a:rPr sz="1150" b="0" i="1">
                <a:solidFill>
                  <a:srgbClr val="5B6B7B"/>
                </a:solidFill>
                <a:latin typeface="Calibri"/>
              </a:rPr>
              <a:t>susunan bab dapat menyesuaikan pedoman penulisan tesis tiap perguruan tinggi.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Sugiyono (2019); Fraenkel, Wallen, &amp; Hyun (2019).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BAB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Pendahuluan: Membangun Argumen 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Pola Latar Belakang (Piramida Terbalik)</a:t>
            </a:r>
          </a:p>
        </p:txBody>
      </p:sp>
      <p:sp>
        <p:nvSpPr>
          <p:cNvPr id="9" name="Trapezoid 8"/>
          <p:cNvSpPr/>
          <p:nvPr/>
        </p:nvSpPr>
        <p:spPr>
          <a:xfrm rot="10800000">
            <a:off x="548640" y="1874519"/>
            <a:ext cx="5852160" cy="713232"/>
          </a:xfrm>
          <a:prstGeom prst="trapezoid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Kondisi ideal / harapan (das Sollen)</a:t>
            </a:r>
          </a:p>
        </p:txBody>
      </p:sp>
      <p:sp>
        <p:nvSpPr>
          <p:cNvPr id="11" name="Trapezoid 10"/>
          <p:cNvSpPr/>
          <p:nvPr/>
        </p:nvSpPr>
        <p:spPr>
          <a:xfrm rot="10800000">
            <a:off x="1051560" y="2715767"/>
            <a:ext cx="4846320" cy="713232"/>
          </a:xfrm>
          <a:prstGeom prst="trapezoid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7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Kondisi nyata / fakta lapangan (das Sein)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1554480" y="3557015"/>
            <a:ext cx="3840480" cy="713232"/>
          </a:xfrm>
          <a:prstGeom prst="trapezoid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Kesenjangan &amp; dampak masalah</a:t>
            </a:r>
          </a:p>
        </p:txBody>
      </p:sp>
      <p:sp>
        <p:nvSpPr>
          <p:cNvPr id="15" name="Trapezoid 14"/>
          <p:cNvSpPr/>
          <p:nvPr/>
        </p:nvSpPr>
        <p:spPr>
          <a:xfrm rot="10800000">
            <a:off x="2057400" y="4398263"/>
            <a:ext cx="2834640" cy="713232"/>
          </a:xfrm>
          <a:prstGeom prst="trapezoid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98263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Fokus masalah yang diteliti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4800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371600"/>
            <a:ext cx="91440" cy="457200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5361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Komponen Inti Bab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01168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Latar Belakang: </a:t>
            </a:r>
            <a:r>
              <a:rPr sz="1300">
                <a:solidFill>
                  <a:srgbClr val="1C2B3A"/>
                </a:solidFill>
                <a:latin typeface="Calibri"/>
              </a:rPr>
              <a:t>data, fakta, &amp; teori yang menunjukkan masalah.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Identifikasi Masalah: </a:t>
            </a:r>
            <a:r>
              <a:rPr sz="1300">
                <a:solidFill>
                  <a:srgbClr val="1C2B3A"/>
                </a:solidFill>
                <a:latin typeface="Calibri"/>
              </a:rPr>
              <a:t>memetakan semua kemungkinan persoalan.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Batasan Masalah: </a:t>
            </a:r>
            <a:r>
              <a:rPr sz="1300">
                <a:solidFill>
                  <a:srgbClr val="1C2B3A"/>
                </a:solidFill>
                <a:latin typeface="Calibri"/>
              </a:rPr>
              <a:t>mempersempit agar fokus &amp; terjangkau.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Rumusan Masalah: </a:t>
            </a:r>
            <a:r>
              <a:rPr sz="1300">
                <a:solidFill>
                  <a:srgbClr val="1C2B3A"/>
                </a:solidFill>
                <a:latin typeface="Calibri"/>
              </a:rPr>
              <a:t>pertanyaan penelitian yang dijawab.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Tujuan: </a:t>
            </a:r>
            <a:r>
              <a:rPr sz="1300">
                <a:solidFill>
                  <a:srgbClr val="1C2B3A"/>
                </a:solidFill>
                <a:latin typeface="Calibri"/>
              </a:rPr>
              <a:t>selaras dengan rumusan masalah.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>
                <a:solidFill>
                  <a:srgbClr val="0F2A4A"/>
                </a:solidFill>
                <a:latin typeface="Calibri"/>
              </a:rPr>
              <a:t>Manfaat: </a:t>
            </a:r>
            <a:r>
              <a:rPr sz="1300">
                <a:solidFill>
                  <a:srgbClr val="1C2B3A"/>
                </a:solidFill>
                <a:latin typeface="Calibri"/>
              </a:rPr>
              <a:t>kontribusi teoretis &amp; praktis.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Sugiyono (2019); Sekaran &amp; Bougie (2016).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INTI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Merumuskan Masalah Penelitian yang Tajam</a:t>
            </a:r>
          </a:p>
        </p:txBody>
      </p:sp>
      <p:pic>
        <p:nvPicPr>
          <p:cNvPr id="8" name="Picture 7" descr="magnify.jpg"/>
          <p:cNvPicPr>
            <a:picLocks noChangeAspect="1"/>
          </p:cNvPicPr>
          <p:nvPr/>
        </p:nvPicPr>
        <p:blipFill>
          <a:blip r:embed="rId2"/>
          <a:srcRect t="3125" b="3125"/>
          <a:stretch>
            <a:fillRect/>
          </a:stretch>
        </p:blipFill>
        <p:spPr>
          <a:xfrm>
            <a:off x="548640" y="1508760"/>
            <a:ext cx="365760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508760"/>
            <a:ext cx="3657600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Kesenjangan antara apa yang sudah diketahui (teori/riset) dan apa yang belum terjawab. Inilah ruang yang Anda isi.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Kriteria Masalah yang Baik — </a:t>
            </a:r>
            <a:r>
              <a:rPr sz="1500" b="1" i="0">
                <a:solidFill>
                  <a:srgbClr val="E76F51"/>
                </a:solidFill>
                <a:latin typeface="Calibri"/>
              </a:rPr>
              <a:t>FINER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920240"/>
            <a:ext cx="7132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920240"/>
            <a:ext cx="91440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029968"/>
            <a:ext cx="438912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299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956816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Calibri"/>
              </a:rPr>
              <a:t>Feasible —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Layak dikerjakan: waktu, dana, akses data memadai.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670048"/>
            <a:ext cx="7132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2670048"/>
            <a:ext cx="91440" cy="658368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779776"/>
            <a:ext cx="438912" cy="43891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77977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706624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Calibri"/>
              </a:rPr>
              <a:t>Interesting —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Menarik bagi peneliti &amp; komunitas akademik.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419856"/>
            <a:ext cx="7132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419856"/>
            <a:ext cx="91440" cy="658368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529584"/>
            <a:ext cx="438912" cy="43891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52958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456432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Calibri"/>
              </a:rPr>
              <a:t>Novel —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Baru / memberi kontribusi, bukan pengulangan.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169664"/>
            <a:ext cx="7132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6280" y="4169664"/>
            <a:ext cx="91440" cy="65836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4279392"/>
            <a:ext cx="438912" cy="43891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27939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206240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Calibri"/>
              </a:rPr>
              <a:t>Ethical —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Etis &amp; tidak merugikan subjek penelitian.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919472"/>
            <a:ext cx="71323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26280" y="4919472"/>
            <a:ext cx="91440" cy="658368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5029200"/>
            <a:ext cx="438912" cy="43891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502920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956048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Calibri"/>
              </a:rPr>
              <a:t>Relevant —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Relevan bagi ilmu &amp; praktik manajemen pendidikan.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Hulley et al. (2013) — kriteria FINER; Creswell &amp; Creswell (2018).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BAB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Kajian Pustaka: Fondasi Teoretis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583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Kajian pustaka bukan sekadar ringkasan buku, melainkan </a:t>
            </a:r>
            <a:r>
              <a:rPr sz="1400" b="1" i="0">
                <a:solidFill>
                  <a:srgbClr val="2A9D8F"/>
                </a:solidFill>
                <a:latin typeface="Calibri"/>
              </a:rPr>
              <a:t>argumentasi terstruktur</a:t>
            </a:r>
            <a:r>
              <a:rPr sz="1400" b="0" i="0">
                <a:solidFill>
                  <a:srgbClr val="5B6B7B"/>
                </a:solidFill>
                <a:latin typeface="Calibri"/>
              </a:rPr>
              <a:t> yang memposisikan penelitian Anda di antara karya ilmiah lain.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6492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91440" cy="804672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414016"/>
            <a:ext cx="457200" cy="457200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Kajian Teori: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Definisi &amp; teori utama variabel/konsep penelitian.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6492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91440" cy="804672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328416"/>
            <a:ext cx="457200" cy="457200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284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46120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Penelitian Relevan: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Temuan riset terdahulu + posisi kebaruan Anda.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6492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91440" cy="804672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242816"/>
            <a:ext cx="457200" cy="457200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60520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Sintesis Kritis: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Membandingkan, bukan menumpuk kutipan.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64922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91440" cy="804672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157216"/>
            <a:ext cx="457200" cy="457200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57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74920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Sumber Kredibel: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Jurnal terindeks, buku rujukan, data resmi (utamakan mutakhir).</a:t>
            </a:r>
          </a:p>
        </p:txBody>
      </p:sp>
      <p:pic>
        <p:nvPicPr>
          <p:cNvPr id="29" name="Picture 28" descr="library.jpg"/>
          <p:cNvPicPr>
            <a:picLocks noChangeAspect="1"/>
          </p:cNvPicPr>
          <p:nvPr/>
        </p:nvPicPr>
        <p:blipFill>
          <a:blip r:embed="rId2"/>
          <a:srcRect t="7188" b="7188"/>
          <a:stretch>
            <a:fillRect/>
          </a:stretch>
        </p:blipFill>
        <p:spPr>
          <a:xfrm>
            <a:off x="7315200" y="1371600"/>
            <a:ext cx="4325112" cy="24688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15200" y="1371600"/>
            <a:ext cx="4325112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0" y="4023360"/>
            <a:ext cx="4325112" cy="192024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41605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9A23B"/>
                </a:solidFill>
                <a:latin typeface="Calibri"/>
              </a:rPr>
              <a:t>Hindari!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57200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9A23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Sumber tidak ilmiah / blog tak jelas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9A23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Kutipan tanpa analisis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9A23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Teori usang yang tak relevan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Bryman (2016); Creswell &amp; Creswell (2018).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BAB II (LANJUTAN)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Kerangka Berpikir &amp; Hipotesis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48463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91440" cy="20574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2763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Kerangka Berpikir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1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Alur logika yang menghubungkan teori, variabel, dan masalah menjadi satu kesatuan argumen. Sering disajikan sebagai bagan/diagram.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91440" cy="228600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22191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Hipotesis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61104"/>
            <a:ext cx="4297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Jawaban sementara atas rumusan masalah; </a:t>
            </a:r>
            <a:r>
              <a:rPr sz="1300" b="1" i="0">
                <a:solidFill>
                  <a:srgbClr val="E76F51"/>
                </a:solidFill>
                <a:latin typeface="Calibri"/>
              </a:rPr>
              <a:t>wajib pada penelitian kuantitatif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, dapat tidak ada pada penelitian kualitatif. Harus dapat diuji secara empiris.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4173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Contoh Bagan Kerangka Berpikir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01168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0116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Kepemimpinan Kepala Sekolah (X1)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315468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1546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Budaya Organisasi (X2)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60604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60604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Kinerja Guru (Y)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138160" y="2331720"/>
            <a:ext cx="1005840" cy="164592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138160" y="3520440"/>
            <a:ext cx="1005840" cy="164592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0" y="4434840"/>
            <a:ext cx="5989320" cy="1371600"/>
          </a:xfrm>
          <a:prstGeom prst="roundRect">
            <a:avLst>
              <a:gd name="adj" fmla="val 6000"/>
            </a:avLst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572000"/>
            <a:ext cx="54864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Hipotesis (H1): </a:t>
            </a:r>
            <a:r>
              <a:rPr sz="1300" b="0" i="0">
                <a:solidFill>
                  <a:srgbClr val="1C2B3A"/>
                </a:solidFill>
                <a:latin typeface="Calibri"/>
              </a:rPr>
              <a:t>Terdapat pengaruh positif kepemimpinan kepala sekolah dan budaya organisasi terhadap kinerja guru.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Sugiyono (2019); Sekaran &amp; Bougie (2016).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BAB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Metode Penelitian: Memilih Pendekatan yang Tepat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Calibri"/>
              </a:rPr>
              <a:t>Metode mengikuti masalah — bukan sebaliknya. Pilih pendekatan sesuai pertanyaan penelitian 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611880" cy="320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KUANTITATIF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Menguji teori / hubungan antar variabel dengan angka &amp; statistik.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Pertanyaan: seberapa besar / adakah pengaruh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Data: angka, kuesioner, skala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Analisis: statistik (uji-t, regresi, SEM)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Hasil: generalisasi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9202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5112" y="19202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2286000"/>
            <a:ext cx="3611880" cy="3200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9202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KUALITATIF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74320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Memahami makna, proses, &amp; fenomena secara mendalam.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033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5E8C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Pertanyaan: bagaimana / mengapa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5E8C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Data: wawancara, observasi, dokumen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5E8C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Analisis: tematik / naratif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5E8C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Hasil: pemahaman kontekstual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19202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1920240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4" y="2286000"/>
            <a:ext cx="3611880" cy="320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4" y="192024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CAMPURAN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743200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Menggabungkan kekuatan kuantitatif &amp; kualitatif (mixed methods).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7033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Pertanyaan: kompleks &amp; berlapis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Data: angka + narasi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Analisis: terintegrasi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▸  </a:t>
            </a:r>
            <a:r>
              <a:rPr sz="1200">
                <a:solidFill>
                  <a:srgbClr val="1C2B3A"/>
                </a:solidFill>
                <a:latin typeface="Calibri"/>
              </a:rPr>
              <a:t>Hasil: gambaran menyeluruh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Creswell &amp; Creswell (2018); Sugiyono (2019); Miles, Huberman, &amp; Saldaña (2014).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BAB III (LANJUTAN)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Subjek, Instrumen, &amp; Keabsahan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91440" cy="20574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74520"/>
            <a:ext cx="3977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Populasi &amp; Sampel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06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Seluruh subjek vs bagian yang mewakili. Tentukan teknik sampling (acak/purposif) &amp; ukuran sampel yang memadai.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91440" cy="205740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74520"/>
            <a:ext cx="3977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Teknik Pengumpulan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06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Angket, wawancara, observasi, dokumentasi — disesuaikan dengan jenis data yang dibutuhkan.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91440" cy="205740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160520"/>
            <a:ext cx="3977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Instrumen Penelitian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892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Alat ukur (kuesioner/pedoman). Sertakan kisi-kisi &amp; validasi ahli sebelum digunakan.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840480"/>
            <a:ext cx="91440" cy="205740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60520"/>
            <a:ext cx="3977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Validitas &amp; Reliabilitas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89204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B3A"/>
                </a:solidFill>
                <a:latin typeface="Calibri"/>
              </a:rPr>
              <a:t>Kuantitatif: uji validitas &amp; reliabilitas. Kualitatif: triangulasi, member check, kredibilitas.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Sekaran &amp; Bougie (2016); Fraenkel, Wallen, &amp; Hyun (2019); Miles, Huberman, &amp; Saldaña (2014).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APLIKASI BIDANG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Topik Relevan dalam Manajemen Pendidikan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Calibri"/>
              </a:rPr>
              <a:t>Pilih topik yang dekat dengan praktik kepemimpinan, kebijakan, dan mutu pendidikan — agar hasil tesis bermanfaat nyata.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91440" cy="11430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8658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Kepemimpinan &amp; SDM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Kepemimpinan kepala sekolah, kinerja &amp; profesionalisme guru.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4" y="224028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9664" y="2240280"/>
            <a:ext cx="91440" cy="114300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38658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Mutu &amp; Akreditasi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78892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Manajemen mutu terpadu (TQM), penjaminan mutu, akreditasi.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91440" cy="114300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Kebijakan &amp; Pembiayaan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Implementasi kebijakan, manajemen pembiayaan pendidikan.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9664" y="352044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9664" y="3520440"/>
            <a:ext cx="91440" cy="114300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366674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Budaya &amp; Iklim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06908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Budaya organisasi sekolah, iklim kerja, motivasi.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91440" cy="11430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4690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Inovasi &amp; 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4924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Transformasi digital, manajemen perubahan, kurikulum.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9664" y="4800600"/>
            <a:ext cx="345643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69664" y="4800600"/>
            <a:ext cx="91440" cy="114300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4946904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Layanan &amp; Kepuasan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5349240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C2B3A"/>
                </a:solidFill>
                <a:latin typeface="Calibri"/>
              </a:rPr>
              <a:t>Manajemen layanan, kepuasan stakeholder pendidikan.</a:t>
            </a:r>
          </a:p>
        </p:txBody>
      </p:sp>
      <p:pic>
        <p:nvPicPr>
          <p:cNvPr id="33" name="Picture 32" descr="teacher.jpg"/>
          <p:cNvPicPr>
            <a:picLocks noChangeAspect="1"/>
          </p:cNvPicPr>
          <p:nvPr/>
        </p:nvPicPr>
        <p:blipFill>
          <a:blip r:embed="rId2"/>
          <a:srcRect l="13951" r="13951"/>
          <a:stretch>
            <a:fillRect/>
          </a:stretch>
        </p:blipFill>
        <p:spPr>
          <a:xfrm>
            <a:off x="7635240" y="2240280"/>
            <a:ext cx="4005072" cy="370332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635240" y="2240280"/>
            <a:ext cx="4005072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Bush (2011); Hoy &amp; Miskel (2013) sebagai rujukan teori manajemen pendidikan.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INTEGRITAS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Etika Penelitian &amp; Anti-Plagiarisme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Prinsip Etika yang Wajib Dijaga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6126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1440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1226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12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5120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Informed Consent: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Subjek paham tujuan &amp; menyetujui keikutsertaan secara sukarela.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6126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91440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723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71800"/>
            <a:ext cx="5120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Kerahasiaan: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Lindungi identitas &amp; data pribadi responden.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6126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91440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31920"/>
            <a:ext cx="5120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Kejujuran Data: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Dilarang memanipulasi, memalsukan, atau merekayasa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6126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91440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99262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926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92040"/>
            <a:ext cx="5120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Sitasi yang Benar: </a:t>
            </a:r>
            <a:r>
              <a:rPr sz="1250" b="0" i="0">
                <a:solidFill>
                  <a:srgbClr val="1C2B3A"/>
                </a:solidFill>
                <a:latin typeface="Calibri"/>
              </a:rPr>
              <a:t>Setiap kutipan &amp; ide orang lain wajib dirujuk dengan tepat.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417320"/>
            <a:ext cx="4709160" cy="4526280"/>
          </a:xfrm>
          <a:prstGeom prst="roundRect">
            <a:avLst>
              <a:gd name="adj" fmla="val 6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78040" y="1645920"/>
            <a:ext cx="822960" cy="82296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1645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0F2A4A"/>
                </a:solidFill>
                <a:latin typeface="Georg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178308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9A23B"/>
                </a:solidFill>
                <a:latin typeface="Calibri"/>
              </a:rPr>
              <a:t>Plagiarisme =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Pelanggaran Berat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697480"/>
            <a:ext cx="4206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9A23B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Parafrase dengan kalimat sendiri + tetap merujuk sumber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9A23B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Gunakan manajer referensi (Mendeley/Zotero)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9A23B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Konsisten memakai satu gaya sitasi (APA 7th)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9A23B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Cek kemiripan (Turnitin) sebelum seminar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E9A23B"/>
                </a:solidFill>
                <a:latin typeface="Calibri"/>
              </a:rPr>
              <a:t>▸  </a:t>
            </a:r>
            <a:r>
              <a:rPr sz="1250">
                <a:solidFill>
                  <a:srgbClr val="FFFFFF"/>
                </a:solidFill>
                <a:latin typeface="Calibri"/>
              </a:rPr>
              <a:t>Sanksi: pembatalan, hukum, &amp; reputasi akademik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Resnik (2011); pedoman integritas akademik &amp; gaya sitasi APA (2020).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KETERAMPILAN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Teknik Presentasi Seminar yang Efektif</a:t>
            </a:r>
          </a:p>
        </p:txBody>
      </p:sp>
      <p:pic>
        <p:nvPicPr>
          <p:cNvPr id="8" name="Picture 7" descr="study.jpg"/>
          <p:cNvPicPr>
            <a:picLocks noChangeAspect="1"/>
          </p:cNvPicPr>
          <p:nvPr/>
        </p:nvPicPr>
        <p:blipFill>
          <a:blip r:embed="rId2"/>
          <a:srcRect t="5856" b="5856"/>
          <a:stretch>
            <a:fillRect/>
          </a:stretch>
        </p:blipFill>
        <p:spPr>
          <a:xfrm>
            <a:off x="548640" y="1463040"/>
            <a:ext cx="338328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463040"/>
            <a:ext cx="3383280" cy="10972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7452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463040"/>
            <a:ext cx="91440" cy="14173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46304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463040"/>
            <a:ext cx="914400" cy="1417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63040"/>
            <a:ext cx="1828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Sebelum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9344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Kuasai isi proposal, bukan hafalan slide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Siapkan slide ringkas (1 ide/slide)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Latihan &amp; kelola waktu (mis. 15 menit)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990088"/>
            <a:ext cx="7452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990088"/>
            <a:ext cx="91440" cy="141732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2990088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990088"/>
            <a:ext cx="914400" cy="141732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990088"/>
            <a:ext cx="1828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Saat Presentasi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36392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B5E8C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Buka dengan masalah &amp; urgensi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B5E8C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Tampilkan alur logis Bab I–III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B5E8C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Bahasa tubuh &amp; kontak mata percaya diri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517136"/>
            <a:ext cx="7452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4517136"/>
            <a:ext cx="91440" cy="14173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4517136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4517136"/>
            <a:ext cx="914400" cy="1417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517136"/>
            <a:ext cx="1828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Sesi Tanya Jawab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63440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E76F51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Dengarkan penuh, catat pertanyaan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E76F51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Jawab jujur; akui bila perlu kaji ulang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E76F51"/>
                </a:solidFill>
                <a:latin typeface="Calibri"/>
              </a:rPr>
              <a:t>▸  </a:t>
            </a:r>
            <a:r>
              <a:rPr sz="1250">
                <a:solidFill>
                  <a:srgbClr val="1C2B3A"/>
                </a:solidFill>
                <a:latin typeface="Calibri"/>
              </a:rPr>
              <a:t>Sikap terbuka pada masukan penguji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Bryman (2016); panduan presentasi ilmiah pascasarjana.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REFLEKSI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Kesalahan Umum vs Tips Sukses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394960" cy="77724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394960" cy="320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394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   Kesalahan yang Sering Terjadi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Latar belakang tidak menunjukkan masalah nyata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Rumusan masalah &amp; tujuan tidak sinkron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Kajian pustaka hanya menumpuk kutipan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Metode tidak sesuai dengan masalah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Topik terlalu luas / tidak terjangkau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76F51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Sumber rujukan usang &amp; tidak kredibel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394960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63040"/>
            <a:ext cx="5394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 Kunci Proposal yang Sukses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Mulai dari masalah yang Anda kuasai &amp; pedulikan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Jaga benang merah: masalah → tujuan → metode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Sintesis kritis, bukan sekadar mengutip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Pilih metode yang realistis &amp; sesuai data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Persempit fokus agar tuntas &amp; mendalam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▸  </a:t>
            </a:r>
            <a:r>
              <a:rPr sz="1350">
                <a:solidFill>
                  <a:srgbClr val="1C2B3A"/>
                </a:solidFill>
                <a:latin typeface="Calibri"/>
              </a:rPr>
              <a:t>Konsultasi rutin dengan dosen pembimbing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ASESMEN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Aspek Penilaian Seminar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Calibri"/>
              </a:rPr>
              <a:t>Gunakan aspek-aspek berikut sebagai daftar periksa (checklist) kesiapan 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109960" cy="54864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ASPEK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INDIKATOR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96596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BOBOT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111099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624328"/>
            <a:ext cx="91440" cy="62179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24328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Latar Belakang &amp; Masalah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24328"/>
            <a:ext cx="5577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Kejelasan masalah, urgensi, &amp; kesenjangan riset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1320" y="2734056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61320" y="2734056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109960" cy="621792"/>
          </a:xfrm>
          <a:prstGeom prst="roundRect">
            <a:avLst>
              <a:gd name="adj" fmla="val 10000"/>
            </a:avLst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91440" cy="621792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37560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Kajian Pustaka &amp; Teori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37560"/>
            <a:ext cx="5577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Kecukupan, kemutakhiran, &amp; sintesis kritis sumber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61320" y="3447288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3447288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50792"/>
            <a:ext cx="111099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050792"/>
            <a:ext cx="91440" cy="621792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50792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Metodologi Penelitian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050792"/>
            <a:ext cx="5577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Ketepatan metode, instrumen, &amp; keabsahan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61320" y="4160520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4160520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64024"/>
            <a:ext cx="11109960" cy="621792"/>
          </a:xfrm>
          <a:prstGeom prst="roundRect">
            <a:avLst>
              <a:gd name="adj" fmla="val 10000"/>
            </a:avLst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764024"/>
            <a:ext cx="91440" cy="621792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64024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Sistematika &amp; Tata Tulis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764024"/>
            <a:ext cx="5577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Logika, konsistensi, sitasi, &amp; bahasa ilmiah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61320" y="4873752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20" y="4873752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77256"/>
            <a:ext cx="111099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5477256"/>
            <a:ext cx="91440" cy="621792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477256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Presentasi &amp; Penguasaan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477256"/>
            <a:ext cx="5577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B3A"/>
                </a:solidFill>
                <a:latin typeface="Calibri"/>
              </a:rPr>
              <a:t>Penyampaian, argumentasi, &amp; respons tanya jawab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1320" y="5586984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61320" y="5586984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1">
                <a:solidFill>
                  <a:srgbClr val="5B6B7B"/>
                </a:solidFill>
                <a:latin typeface="Calibri"/>
              </a:rPr>
              <a:t>Referensi: </a:t>
            </a:r>
            <a:r>
              <a:rPr sz="850" b="0" i="1">
                <a:solidFill>
                  <a:srgbClr val="5B6B7B"/>
                </a:solidFill>
                <a:latin typeface="Calibri"/>
              </a:rPr>
              <a:t>Disarikan dari pedoman penilaian seminar proposal pascasarjana &amp; Gall, Gall, &amp; Borg (2007).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ccess.jpg"/>
          <p:cNvPicPr>
            <a:picLocks noChangeAspect="1"/>
          </p:cNvPicPr>
          <p:nvPr/>
        </p:nvPicPr>
        <p:blipFill>
          <a:blip r:embed="rId2"/>
          <a:srcRect l="28925" r="28925"/>
          <a:stretch>
            <a:fillRect/>
          </a:stretch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80960" y="0"/>
            <a:ext cx="109728" cy="68580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1371600" cy="914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Rangkuman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7EFF7"/>
                </a:solidFill>
                <a:latin typeface="Calibri"/>
              </a:rPr>
              <a:t>Lima hal yang harus Anda bawa pulang dari sesi ini: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21992"/>
            <a:ext cx="6126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Seminar proposal menguji kelayakan rencana penelitian tesis Anda.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71800"/>
            <a:ext cx="6126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Jaga benang merah: masalah → rumusan → tujuan → metode.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21608"/>
            <a:ext cx="6126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Masalah yang baik memenuhi kriteria FINER &amp; berbasis research gap.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970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71416"/>
            <a:ext cx="6126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Pilih metode sesuai pertanyaan; perhatikan keabsahan data.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1224"/>
            <a:ext cx="6126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Junjung etika akademik &amp; presentasikan dengan percaya diri.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E9A23B"/>
                </a:solidFill>
                <a:latin typeface="Calibri"/>
              </a:rPr>
              <a:t>“Proposal yang matang adalah separuh dari tesis yang selesai.”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658368" cy="658368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Georgi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77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A23B"/>
                </a:solidFill>
                <a:latin typeface="Calibri"/>
              </a:rPr>
              <a:t>SUMBER RUJUKAN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12064"/>
            <a:ext cx="10424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Referensi Pendukung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Disusun mengikuti gaya American Psychological Association (APA 7th edition).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91440" cy="41148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91440" cy="4114800"/>
          </a:xfrm>
          <a:prstGeom prst="round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19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1. </a:t>
            </a:r>
            <a:r>
              <a:rPr sz="1150">
                <a:solidFill>
                  <a:srgbClr val="1C2B3A"/>
                </a:solidFill>
                <a:latin typeface="Calibri"/>
              </a:rPr>
              <a:t>Bryman, A. (2016). Social research methods (5th ed.). Oxford University Press.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2. </a:t>
            </a:r>
            <a:r>
              <a:rPr sz="1150">
                <a:solidFill>
                  <a:srgbClr val="1C2B3A"/>
                </a:solidFill>
                <a:latin typeface="Calibri"/>
              </a:rPr>
              <a:t>Bush, T. (2011). Theories of educational leadership and management (4th ed.). SAGE.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3. </a:t>
            </a:r>
            <a:r>
              <a:rPr sz="1150">
                <a:solidFill>
                  <a:srgbClr val="1C2B3A"/>
                </a:solidFill>
                <a:latin typeface="Calibri"/>
              </a:rPr>
              <a:t>Creswell, J. W., &amp; Creswell, J. D. (2018). Research design: Qualitative, quantitative, and mixed methods approaches (5th ed.). SAGE.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4. </a:t>
            </a:r>
            <a:r>
              <a:rPr sz="1150">
                <a:solidFill>
                  <a:srgbClr val="1C2B3A"/>
                </a:solidFill>
                <a:latin typeface="Calibri"/>
              </a:rPr>
              <a:t>Emzir. (2015). Metodologi penelitian pendidikan: Kuantitatif dan kualitatif. Rajawali Pers.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5. </a:t>
            </a:r>
            <a:r>
              <a:rPr sz="1150">
                <a:solidFill>
                  <a:srgbClr val="1C2B3A"/>
                </a:solidFill>
                <a:latin typeface="Calibri"/>
              </a:rPr>
              <a:t>Fraenkel, J. R., Wallen, N. E., &amp; Hyun, H. H. (2019). How to design and evaluate research in education (10th ed.). McGraw-Hill.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6. </a:t>
            </a:r>
            <a:r>
              <a:rPr sz="1150">
                <a:solidFill>
                  <a:srgbClr val="1C2B3A"/>
                </a:solidFill>
                <a:latin typeface="Calibri"/>
              </a:rPr>
              <a:t>Gall, M. D., Gall, J. P., &amp; Borg, W. R. (2007). Educational research: An introduction (8th ed.). Pearson.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7. </a:t>
            </a:r>
            <a:r>
              <a:rPr sz="1150">
                <a:solidFill>
                  <a:srgbClr val="1C2B3A"/>
                </a:solidFill>
                <a:latin typeface="Calibri"/>
              </a:rPr>
              <a:t>Hoy, W. K., &amp; Miskel, C. G. (2013). Educational administration: Theory, research, and practice (9th ed.). McGraw-Hill.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8. </a:t>
            </a:r>
            <a:r>
              <a:rPr sz="1150">
                <a:solidFill>
                  <a:srgbClr val="1C2B3A"/>
                </a:solidFill>
                <a:latin typeface="Calibri"/>
              </a:rPr>
              <a:t>Hulley, S. B., Cummings, S. R., Browner, W. S., Grady, D. G., &amp; Newman, T. B. (2013). Designing clinical research (4th ed.). Lippincott Williams &amp; Wilkins.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9. </a:t>
            </a:r>
            <a:r>
              <a:rPr sz="1150">
                <a:solidFill>
                  <a:srgbClr val="1C2B3A"/>
                </a:solidFill>
                <a:latin typeface="Calibri"/>
              </a:rPr>
              <a:t>Miles, M. B., Huberman, A. M., &amp; Saldaña, J. (2014). Qualitative data analysis: A methods sourcebook (3rd ed.). SAGE.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10. </a:t>
            </a:r>
            <a:r>
              <a:rPr sz="1150">
                <a:solidFill>
                  <a:srgbClr val="1C2B3A"/>
                </a:solidFill>
                <a:latin typeface="Calibri"/>
              </a:rPr>
              <a:t>Sekaran, U., &amp; Bougie, R. (2016). Research methods for business: A skill-building approach (7th ed.). Wiley.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11. </a:t>
            </a:r>
            <a:r>
              <a:rPr sz="1150">
                <a:solidFill>
                  <a:srgbClr val="1C2B3A"/>
                </a:solidFill>
                <a:latin typeface="Calibri"/>
              </a:rPr>
              <a:t>Sugiyono. (2019). Metode penelitian kuantitatif, kualitatif, dan R&amp;D. Alfabeta.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7D6E6"/>
                </a:solidFill>
                <a:latin typeface="Calibri"/>
              </a:rPr>
              <a:t>Seminar Proposal Penelitian (Tesis)  •  Magister Manajemen Pendidikan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56539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9A23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